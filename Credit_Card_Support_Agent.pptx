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4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ta Poddar" userId="2bd0fb86-3358-426c-b65a-da29c1836537" providerId="ADAL" clId="{08541D82-4F06-44B2-82B0-F6FA70850E90}"/>
    <pc:docChg chg="modSld">
      <pc:chgData name="Sweta Poddar" userId="2bd0fb86-3358-426c-b65a-da29c1836537" providerId="ADAL" clId="{08541D82-4F06-44B2-82B0-F6FA70850E90}" dt="2026-02-06T08:10:40.985" v="1" actId="14100"/>
      <pc:docMkLst>
        <pc:docMk/>
      </pc:docMkLst>
      <pc:sldChg chg="modSp mod">
        <pc:chgData name="Sweta Poddar" userId="2bd0fb86-3358-426c-b65a-da29c1836537" providerId="ADAL" clId="{08541D82-4F06-44B2-82B0-F6FA70850E90}" dt="2026-02-06T08:10:40.985" v="1" actId="14100"/>
        <pc:sldMkLst>
          <pc:docMk/>
          <pc:sldMk cId="0" sldId="257"/>
        </pc:sldMkLst>
        <pc:spChg chg="mod">
          <ac:chgData name="Sweta Poddar" userId="2bd0fb86-3358-426c-b65a-da29c1836537" providerId="ADAL" clId="{08541D82-4F06-44B2-82B0-F6FA70850E90}" dt="2026-02-06T08:10:40.985" v="1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Sweta Poddar" userId="2bd0fb86-3358-426c-b65a-da29c1836537" providerId="ADAL" clId="{08541D82-4F06-44B2-82B0-F6FA70850E90}" dt="2026-02-06T08:10:36.139" v="0" actId="1076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  <a:defRPr sz="1800" b="1">
                <a:solidFill>
                  <a:srgbClr val="0070C0"/>
                </a:solidFill>
              </a:defRPr>
            </a:pPr>
            <a:r>
              <a:t>• Challenge: </a:t>
            </a:r>
            <a:r>
              <a:rPr sz="1600" b="0">
                <a:solidFill>
                  <a:srgbClr val="404040"/>
                </a:solidFill>
              </a:rPr>
              <a:t>Credit card fraud is increasing, requiring immediate customer response and card blocking</a:t>
            </a:r>
          </a:p>
          <a:p>
            <a:pPr>
              <a:spcBef>
                <a:spcPts val="1200"/>
              </a:spcBef>
              <a:defRPr sz="1800" b="1">
                <a:solidFill>
                  <a:srgbClr val="0070C0"/>
                </a:solidFill>
              </a:defRPr>
            </a:pPr>
            <a:r>
              <a:t>• Customer Pain: </a:t>
            </a:r>
            <a:r>
              <a:rPr sz="1600" b="0">
                <a:solidFill>
                  <a:srgbClr val="404040"/>
                </a:solidFill>
              </a:rPr>
              <a:t>Long wait times, multiple transfers, and complex verification processes</a:t>
            </a:r>
          </a:p>
          <a:p>
            <a:pPr>
              <a:spcBef>
                <a:spcPts val="1200"/>
              </a:spcBef>
              <a:defRPr sz="1800" b="1">
                <a:solidFill>
                  <a:srgbClr val="0070C0"/>
                </a:solidFill>
              </a:defRPr>
            </a:pPr>
            <a:r>
              <a:t>• Business Impact: </a:t>
            </a:r>
            <a:r>
              <a:rPr sz="1600" b="0">
                <a:solidFill>
                  <a:srgbClr val="404040"/>
                </a:solidFill>
              </a:rPr>
              <a:t>High operational costs, customer dissatisfaction, and delayed fraud resolution</a:t>
            </a:r>
          </a:p>
          <a:p>
            <a:pPr>
              <a:spcBef>
                <a:spcPts val="1200"/>
              </a:spcBef>
              <a:defRPr sz="1800" b="1">
                <a:solidFill>
                  <a:srgbClr val="0070C0"/>
                </a:solidFill>
              </a:defRPr>
            </a:pPr>
            <a:r>
              <a:t>• Solution Need: </a:t>
            </a:r>
            <a:r>
              <a:rPr sz="1600" b="0">
                <a:solidFill>
                  <a:srgbClr val="404040"/>
                </a:solidFill>
              </a:rPr>
              <a:t>AI-powered agent for instant fraud detection, proactive alerts, and automated resolution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Tech Stack +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15141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rPr dirty="0"/>
              <a:t>Tech Stack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rPr dirty="0"/>
              <a:t>• LLM: Google Gemini 1.5 Flash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rPr dirty="0"/>
              <a:t>• Framework: </a:t>
            </a:r>
            <a:r>
              <a:rPr dirty="0" err="1"/>
              <a:t>LangChain</a:t>
            </a:r>
            <a:r>
              <a:rPr dirty="0"/>
              <a:t> + </a:t>
            </a:r>
            <a:r>
              <a:rPr dirty="0" err="1"/>
              <a:t>LangGraph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rPr dirty="0"/>
              <a:t>• RAG: </a:t>
            </a:r>
            <a:r>
              <a:rPr dirty="0" err="1"/>
              <a:t>ChromaDB</a:t>
            </a:r>
            <a:r>
              <a:rPr dirty="0"/>
              <a:t> (local)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rPr dirty="0"/>
              <a:t>• Language: Python 3.11+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rPr dirty="0"/>
              <a:t>• UI: </a:t>
            </a:r>
            <a:r>
              <a:rPr dirty="0" err="1"/>
              <a:t>Streamlit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rPr dirty="0"/>
              <a:t>• IDE: IBM KIRO Agentic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6037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Architecture Flow</a:t>
            </a:r>
          </a:p>
          <a:p>
            <a:pPr>
              <a:spcBef>
                <a:spcPts val="800"/>
              </a:spcBef>
              <a:defRPr sz="1300" b="1">
                <a:solidFill>
                  <a:srgbClr val="0070C0"/>
                </a:solidFill>
              </a:defRPr>
            </a:pPr>
            <a:r>
              <a:t>1. Customer Selection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General Enquiry / Fraud Report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300" b="1">
                <a:solidFill>
                  <a:srgbClr val="0070C0"/>
                </a:solidFill>
              </a:defRPr>
            </a:pPr>
            <a:r>
              <a:t>2. Identity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Mobile + Last 4 digits (3 retries)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300" b="1">
                <a:solidFill>
                  <a:srgbClr val="0070C0"/>
                </a:solidFill>
              </a:defRPr>
            </a:pPr>
            <a:r>
              <a:t>3. Risk Assessment (RAG)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Silent background check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Fraud score calculation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300" b="1">
                <a:solidFill>
                  <a:srgbClr val="0070C0"/>
                </a:solidFill>
              </a:defRPr>
            </a:pPr>
            <a:r>
              <a:t>4. Proactive Alert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If suspicious: Alert customer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If safe: Process query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300" b="1">
                <a:solidFill>
                  <a:srgbClr val="0070C0"/>
                </a:solidFill>
              </a:defRPr>
            </a:pPr>
            <a:r>
              <a:t>5. Action Execution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Block card + Raise ticket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Show SLA timelines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300" b="1">
                <a:solidFill>
                  <a:srgbClr val="0070C0"/>
                </a:solidFill>
              </a:defRPr>
            </a:pPr>
            <a:r>
              <a:t>6. Compliance</a:t>
            </a:r>
          </a:p>
          <a:p>
            <a:pPr>
              <a:spcBef>
                <a:spcPts val="200"/>
              </a:spcBef>
              <a:defRPr sz="1100">
                <a:solidFill>
                  <a:srgbClr val="404040"/>
                </a:solidFill>
              </a:defRPr>
            </a:pPr>
            <a:r>
              <a:t>   → RBI guidelines + PCI-DSS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Scenarios Handled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0"/>
              </a:spcBef>
              <a:defRPr sz="1600" b="1">
                <a:solidFill>
                  <a:srgbClr val="0070C0"/>
                </a:solidFill>
              </a:defRPr>
            </a:pPr>
            <a:r>
              <a:t>1. Proactive Fraud Detection (General Enquiry)</a:t>
            </a:r>
          </a:p>
          <a:p>
            <a:pPr lvl="1"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Customer asks about reward points → Agent detects ₹18,900 suspicious transaction → Alerts calmly → Customer denies → Card blocked + Ticket raised → Shows reward points</a:t>
            </a:r>
          </a:p>
          <a:p>
            <a:pPr lvl="1">
              <a:spcBef>
                <a:spcPts val="400"/>
              </a:spcBef>
              <a:defRPr sz="1200" b="1">
                <a:solidFill>
                  <a:srgbClr val="008000"/>
                </a:solidFill>
              </a:defRPr>
            </a:pPr>
            <a:r>
              <a:t>✓ Fraud prevented before customer noticed</a:t>
            </a:r>
          </a:p>
          <a:p>
            <a:pPr>
              <a:spcBef>
                <a:spcPts val="1400"/>
              </a:spcBef>
              <a:defRPr sz="1600" b="1">
                <a:solidFill>
                  <a:srgbClr val="0070C0"/>
                </a:solidFill>
              </a:defRPr>
            </a:pPr>
            <a:r>
              <a:t>2. Direct Fraud Report</a:t>
            </a:r>
          </a:p>
          <a:p>
            <a:pPr lvl="1"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Customer reports ₹8,900 suspicious SMS → Agent finds transaction → Customer denies → Card blocked immediately → Dispute ticket created</a:t>
            </a:r>
          </a:p>
          <a:p>
            <a:pPr lvl="1">
              <a:spcBef>
                <a:spcPts val="400"/>
              </a:spcBef>
              <a:defRPr sz="1200" b="1">
                <a:solidFill>
                  <a:srgbClr val="008000"/>
                </a:solidFill>
              </a:defRPr>
            </a:pPr>
            <a:r>
              <a:t>✓ Immediate action within 2 minutes</a:t>
            </a:r>
          </a:p>
          <a:p>
            <a:pPr>
              <a:spcBef>
                <a:spcPts val="1400"/>
              </a:spcBef>
              <a:defRPr sz="1600" b="1">
                <a:solidFill>
                  <a:srgbClr val="0070C0"/>
                </a:solidFill>
              </a:defRPr>
            </a:pPr>
            <a:r>
              <a:t>3. General Enquiries (No Fraud)</a:t>
            </a:r>
          </a:p>
          <a:p>
            <a:pPr lvl="1"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Reward points, Credit limit, Statement details, Transaction history, Payment due dates → All answered from RAG knowledge base</a:t>
            </a:r>
          </a:p>
          <a:p>
            <a:pPr lvl="1">
              <a:spcBef>
                <a:spcPts val="400"/>
              </a:spcBef>
              <a:defRPr sz="1200" b="1">
                <a:solidFill>
                  <a:srgbClr val="008000"/>
                </a:solidFill>
              </a:defRPr>
            </a:pPr>
            <a:r>
              <a:t>✓ 6+ query types handled accurately</a:t>
            </a:r>
          </a:p>
          <a:p>
            <a:pPr>
              <a:spcBef>
                <a:spcPts val="1400"/>
              </a:spcBef>
              <a:defRPr sz="1600" b="1">
                <a:solidFill>
                  <a:srgbClr val="0070C0"/>
                </a:solidFill>
              </a:defRPr>
            </a:pPr>
            <a:r>
              <a:t>4. Compliance &amp; Security</a:t>
            </a:r>
          </a:p>
          <a:p>
            <a:pPr lvl="1">
              <a:spcBef>
                <a:spcPts val="400"/>
              </a:spcBef>
              <a:defRPr sz="1200">
                <a:solidFill>
                  <a:srgbClr val="404040"/>
                </a:solidFill>
              </a:defRPr>
            </a:pPr>
            <a:r>
              <a:t>RBI guidelines (customer consent, zero liability) + PCI-DSS (never ask CVV/PIN/OTP) + 3-retry identity verification</a:t>
            </a:r>
          </a:p>
          <a:p>
            <a:pPr lvl="1">
              <a:spcBef>
                <a:spcPts val="400"/>
              </a:spcBef>
              <a:defRPr sz="1200" b="1">
                <a:solidFill>
                  <a:srgbClr val="008000"/>
                </a:solidFill>
              </a:defRPr>
            </a:pPr>
            <a:r>
              <a:t>✓ 100% compliant with regulations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344</Words>
  <Application>Microsoft Office PowerPoint</Application>
  <PresentationFormat>On-screen Show (4:3)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Sweta Poddar</cp:lastModifiedBy>
  <cp:revision>1</cp:revision>
  <dcterms:created xsi:type="dcterms:W3CDTF">2013-01-27T09:14:16Z</dcterms:created>
  <dcterms:modified xsi:type="dcterms:W3CDTF">2026-02-06T08:10:45Z</dcterms:modified>
  <cp:category/>
</cp:coreProperties>
</file>